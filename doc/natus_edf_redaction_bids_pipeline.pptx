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73" r:id="rId5"/>
    <p:sldId id="272" r:id="rId6"/>
    <p:sldId id="271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22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overview)
- https://bids-specification.readthedocs.io/en/stable/modality-specific-files/electroencephalography.html (BIDS EEG storage recommendation incl. EDF)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purpose)
- https://www.edfplus.info/specs/edfplus.html (EDF+ spec)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24BE-F3EF-C967-D527-5CA95C8F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6D9E1-33BB-C473-2E30-070FA5185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CF1DF-EA2A-F958-26AC-001D5EC92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purpose)
- https://www.edfplus.info/specs/edfplus.html (EDF+ spec)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EC29A-06BA-0EF4-7E7E-7DF2C124A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12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F4F1-8A33-5FDF-90DA-EA857E8E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5CB44-771A-9A1E-84C4-98BBEFCB1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2ECCF-73C2-59BF-5829-6DF6B22EE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purpose)
- https://www.edfplus.info/specs/edfplus.html (EDF+ spec)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EFAE8-D1D6-F866-6650-257FAB924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82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F85D-861E-5B84-F0AA-407CB837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E89B0-AACC-9B2F-CB95-D678BAA25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05051-FC01-D6B8-90F1-34C0AB584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purpose)
- https://www.edfplus.info/specs/edfplus.html (EDF+ spec)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6BFD2-B090-E4CE-720B-B75DF9A6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50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C845-E089-6ADD-EA9A-58081CB9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AFCF0-8062-431D-9CFE-2CD31800C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8042F-1A87-2C53-AC19-72F19C087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overview)
- https://bids-specification.readthedocs.io/en/stable/modality-specific-files/electroencephalography.html (BIDS EEG storage recommendation incl. EDF)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B4648-8D77-14DC-8A88-648BCDA1E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26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ACA8A-2ED3-1EBD-97BA-C9EF3E34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4224F-5FF1-4BF4-C9C8-B5F5C7172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74BD9-9C83-B325-ED47-4E1BFECA8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purpose)
- https://www.edfplus.info/specs/edfplus.html (EDF+ spec)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1B33E-E2AB-E38D-2368-6361DA0CA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77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(motivation for structured datasets; used as framing)
[/Sources]
Notes:
- Content derived from toolbox script header: Natus_Session_Finder_GUI3.py (coverage checker + gantt export).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https://www.edfplus.info/specs/edf.html (EDF basics)
- https://www.edfplus.info/specs/edfplus.html (EDF+ extension)
- https://bids-specification.readthedocs.io/en/stable/modality-specific-files/electroencephalography.html (BIDS EEG recommends EDF)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https://www.teuniz.net/edfbrowser/EDFbrowser%20manual.html (EDFBrowser compatibility checker + CLI options)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https://www.edfplus.info/specs/edfplus.html (EDF+ context; larger files possible)
[/Sources]
Notes:
- Cleanup rules and safety model are taken from StepA3_GUI_README.md (toolbox documentation).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https://bids-specification.readthedocs.io/en/stable/modality-specific-files/electroencephalography.html (BIDS sidecars are TSV/JSON, which may contain metadata needing de-identification)
[/Sources]
Notes:
- Redaction functionality described in toolbox scripts: edf_embedded_annotations_redactor.py and TSV_JSON_redacting_tool__v1p02.py.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https://bids.neuroimaging.io/index.html (BIDS goal)
- https://bids-specification.readthedocs.io/en/stable/modality-specific-files/electroencephalography.html (BIDS EEG specification)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https://bids-specification.readthedocs.io/ (BIDS specification; validation concept)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https://bids.neuroimaging.io/standards/bids_specification/index.html (BIDS spec overview; used for “validate output” rationale)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https://bids-specification.readthedocs.io/en/stable/modality-specific-files/electroencephalography.html (BIDS EEG sidecar expectations)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\\EEG01\Emu%20Data\DbData\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03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43000" y="1508760"/>
            <a:ext cx="9905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 → EDF → Redaction → BIDS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33172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pipeline &amp; why each step matters (LHSC/UWO BIDS Toolbox)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971800"/>
            <a:ext cx="1798259" cy="43891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07592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7592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sessions &amp; metadata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59547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69859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69859" y="2971800"/>
            <a:ext cx="1798259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4451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4451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EDF(+)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6406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96718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96718" y="2971800"/>
            <a:ext cx="1798259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61310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Verify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61310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+ 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3265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23577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23577" y="2971800"/>
            <a:ext cx="1798259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88169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88169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removal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40124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50436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50436" y="2971800"/>
            <a:ext cx="1798259" cy="43891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15028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15028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2999" y="592074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Feb 10,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548640" y="941833"/>
            <a:ext cx="11094415" cy="5550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1264257"/>
            <a:ext cx="10271455" cy="5045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Nebula – Synology (PHI FREE and should be kept like that)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12 x 12 TB 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RAID 6 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112 TB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Protected against two HDD failure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Quasar – Dell PC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Milad’s PC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4 x 20 TB +  …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Effective capacity = 60 TB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Window 11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Windows Storage Spaces ~ RAID 6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Cyclops – Dell old Natus pc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Previously used for stimulus at EMU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It is connected to Clinical server (EEG01) 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Also, connected to internet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Also, has Natus export software on it (EDFExport.exe)</a:t>
            </a:r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steps: StepA (landing/verify) → StepB (transform/redact/BIDS)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84C3F-7F8C-3B84-D603-75A3B107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4BAC00-66E5-AEEB-D22E-D5E885DB7FB8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AEDFA2-598C-5EFB-5442-D3B8726061FB}"/>
              </a:ext>
            </a:extLst>
          </p:cNvPr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Connections</a:t>
            </a:r>
            <a:endParaRPr lang="en-US" sz="2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15A7C4B-5F08-CA0C-F599-14F3B7C7068A}"/>
              </a:ext>
            </a:extLst>
          </p:cNvPr>
          <p:cNvSpPr/>
          <p:nvPr/>
        </p:nvSpPr>
        <p:spPr>
          <a:xfrm>
            <a:off x="548640" y="941833"/>
            <a:ext cx="11094415" cy="5550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452104B-51F3-ABEE-8B21-6125F347C1CC}"/>
              </a:ext>
            </a:extLst>
          </p:cNvPr>
          <p:cNvSpPr/>
          <p:nvPr/>
        </p:nvSpPr>
        <p:spPr>
          <a:xfrm>
            <a:off x="960120" y="1264257"/>
            <a:ext cx="10271455" cy="5045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Local LAN 192.168.137.x (1 Gbps) – Internet Connection Sharing to Quasar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Nebula / Quasar / Cyclops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Cyclops = 192.168.137.1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Hospital Network / Internet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Cyclops ( </a:t>
            </a:r>
            <a:r>
              <a:rPr lang="en-CA" sz="1400" dirty="0">
                <a:hlinkClick r:id="rId3" action="ppaction://hlinkfile"/>
              </a:rPr>
              <a:t>\\EEG01\Emu Data\</a:t>
            </a:r>
            <a:r>
              <a:rPr lang="en-CA" sz="1400" dirty="0" err="1">
                <a:hlinkClick r:id="rId3" action="ppaction://hlinkfile"/>
              </a:rPr>
              <a:t>DbData</a:t>
            </a:r>
            <a:r>
              <a:rPr lang="en-CA" sz="1400" dirty="0">
                <a:hlinkClick r:id="rId3" action="ppaction://hlinkfile"/>
              </a:rPr>
              <a:t>\</a:t>
            </a:r>
            <a:r>
              <a:rPr lang="en-CA" sz="1400" dirty="0"/>
              <a:t> 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Local LAN 192.168.10.x (10 </a:t>
            </a:r>
            <a:r>
              <a:rPr lang="en-CA" sz="1400" dirty="0" err="1"/>
              <a:t>Gpbs</a:t>
            </a:r>
            <a:r>
              <a:rPr lang="en-CA" sz="1400" dirty="0"/>
              <a:t>) 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Nebula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Quasar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endParaRPr lang="en-CA" sz="1400" dirty="0"/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endParaRPr lang="en-CA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Nebula – Synology (PHI FREE and should be kept like that)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192.168.137.19 – Nebula’s local address , username: </a:t>
            </a:r>
            <a:r>
              <a:rPr lang="en-CA" sz="1400" dirty="0" err="1"/>
              <a:t>seeg_research</a:t>
            </a:r>
            <a:r>
              <a:rPr lang="en-CA" sz="1400" dirty="0"/>
              <a:t> &amp; pass:</a:t>
            </a:r>
          </a:p>
          <a:p>
            <a:pPr lvl="1">
              <a:spcAft>
                <a:spcPts val="600"/>
              </a:spcAft>
              <a:buSzPct val="100000"/>
            </a:pPr>
            <a:endParaRPr lang="en-CA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Quasar – Dell PC – Windows 11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Globus endpoint is installed here.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Cyclops – Dell old Natus pc – Windows 7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3420C02-AFEB-EB25-64E1-DD06EAF4AF14}"/>
              </a:ext>
            </a:extLst>
          </p:cNvPr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64BCB96-7D90-0106-36EF-2F1F2212E875}"/>
              </a:ext>
            </a:extLst>
          </p:cNvPr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steps: StepA (landing/verify) → StepB (transform/redact/BIDS)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4831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A6A79-A586-5DA5-04DA-949DC96A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33FDE2-9102-51E2-A5F0-B40C4369E65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AE7079-2982-CB6D-B781-1AE5498B3FA2}"/>
              </a:ext>
            </a:extLst>
          </p:cNvPr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Interface Speeds</a:t>
            </a:r>
            <a:endParaRPr lang="en-US" sz="2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FF3FCE9-76E6-E419-BD0F-22371962E58D}"/>
              </a:ext>
            </a:extLst>
          </p:cNvPr>
          <p:cNvSpPr/>
          <p:nvPr/>
        </p:nvSpPr>
        <p:spPr>
          <a:xfrm>
            <a:off x="548640" y="941833"/>
            <a:ext cx="11094415" cy="5550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BFB80E9-F561-924B-4A2A-5F93141DFF92}"/>
              </a:ext>
            </a:extLst>
          </p:cNvPr>
          <p:cNvSpPr/>
          <p:nvPr/>
        </p:nvSpPr>
        <p:spPr>
          <a:xfrm>
            <a:off x="960120" y="1264257"/>
            <a:ext cx="10271455" cy="5045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Cyclops (100 </a:t>
            </a:r>
            <a:r>
              <a:rPr lang="en-CA" sz="1400" dirty="0" err="1"/>
              <a:t>MBps</a:t>
            </a:r>
            <a:r>
              <a:rPr lang="en-CA" sz="1400" dirty="0"/>
              <a:t> input/output) – 192.168.37.1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Quasar (100 </a:t>
            </a:r>
            <a:r>
              <a:rPr lang="en-CA" sz="1400" dirty="0" err="1"/>
              <a:t>MBps</a:t>
            </a:r>
            <a:r>
              <a:rPr lang="en-CA" sz="1400" dirty="0"/>
              <a:t> input/output)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Quasar-Nebula 192.168.10.10 (500 </a:t>
            </a:r>
            <a:r>
              <a:rPr lang="en-CA" sz="1400" dirty="0" err="1"/>
              <a:t>MBps</a:t>
            </a:r>
            <a:r>
              <a:rPr lang="en-CA" sz="1400" dirty="0"/>
              <a:t>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Nebula (192.168.137.19) – 200 </a:t>
            </a:r>
            <a:r>
              <a:rPr lang="en-CA" sz="1400" dirty="0" err="1"/>
              <a:t>MBps</a:t>
            </a:r>
            <a:endParaRPr lang="en-CA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CA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5A5BA47-EC8C-BF85-329C-035983EBB228}"/>
              </a:ext>
            </a:extLst>
          </p:cNvPr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299B273-3917-BD52-6597-EE698E687F6C}"/>
              </a:ext>
            </a:extLst>
          </p:cNvPr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steps: StepA (landing/verify) → StepB (transform/redact/BIDS)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5382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8B36C-6CF2-1697-5DD7-59DCB54B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05B91B-57C9-3E90-948D-622D92310F40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821505-FC07-40D6-EBE2-C2A44BC10C2F}"/>
              </a:ext>
            </a:extLst>
          </p:cNvPr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 Session Types</a:t>
            </a:r>
            <a:endParaRPr lang="en-US" sz="2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B21D29A-FE62-19F0-014E-B4E0A8CD7DE6}"/>
              </a:ext>
            </a:extLst>
          </p:cNvPr>
          <p:cNvSpPr/>
          <p:nvPr/>
        </p:nvSpPr>
        <p:spPr>
          <a:xfrm>
            <a:off x="548640" y="941833"/>
            <a:ext cx="11094415" cy="5550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8826EB4-7644-7AE2-B638-9706BB1D6EC4}"/>
              </a:ext>
            </a:extLst>
          </p:cNvPr>
          <p:cNvSpPr/>
          <p:nvPr/>
        </p:nvSpPr>
        <p:spPr>
          <a:xfrm>
            <a:off x="960120" y="1264257"/>
            <a:ext cx="10271455" cy="5045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24/7 Session (50 GB – 150 GB)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Ablation session (ABL) (1GB – 10GB)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CCEP session (a.k.a LFSTIM – low freq stim session) (1GB – 10 GB)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STIM session (a.k.a HFSTIM – high freq stim session) (1GB – 10 GB)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CA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Clips (i.e. seizures / others / that are capture and clipped by the clinicians) </a:t>
            </a:r>
          </a:p>
          <a:p>
            <a:pPr marL="685800" lvl="1" indent="-228600">
              <a:spcAft>
                <a:spcPts val="600"/>
              </a:spcAft>
              <a:buSzPct val="100000"/>
              <a:buChar char="•"/>
            </a:pPr>
            <a:r>
              <a:rPr lang="en-CA" sz="1400" dirty="0"/>
              <a:t>We are not interested in saving these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6D110D9-7495-E72D-B33F-525CA1B5ED9A}"/>
              </a:ext>
            </a:extLst>
          </p:cNvPr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48C1053-1E6A-B4CF-5BB0-F4D24CA6378F}"/>
              </a:ext>
            </a:extLst>
          </p:cNvPr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steps: StepA (landing/verify) → StepB (transform/redact/BIDS)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88140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322EE-D574-79F4-45C0-57551B7F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F0B461-FC2D-3A10-DE7A-AD0006FCE204}"/>
              </a:ext>
            </a:extLst>
          </p:cNvPr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03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DD3168-EF5E-70A1-C559-65DAC1157158}"/>
              </a:ext>
            </a:extLst>
          </p:cNvPr>
          <p:cNvSpPr/>
          <p:nvPr/>
        </p:nvSpPr>
        <p:spPr>
          <a:xfrm>
            <a:off x="1143000" y="1508760"/>
            <a:ext cx="9905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 → EDF → Redaction → BIDS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0695C5-66E0-1100-F126-5F78D41C6B50}"/>
              </a:ext>
            </a:extLst>
          </p:cNvPr>
          <p:cNvSpPr/>
          <p:nvPr/>
        </p:nvSpPr>
        <p:spPr>
          <a:xfrm>
            <a:off x="1143000" y="233172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pipeline &amp; why each step matters (LHSC/UWO BIDS Toolbox)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2B6B40-9FD7-7337-0C14-CD90E80CEBFA}"/>
              </a:ext>
            </a:extLst>
          </p:cNvPr>
          <p:cNvSpPr/>
          <p:nvPr/>
        </p:nvSpPr>
        <p:spPr>
          <a:xfrm>
            <a:off x="1143000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5F1C837-9B07-8D8E-FBE2-EDA82A38F529}"/>
              </a:ext>
            </a:extLst>
          </p:cNvPr>
          <p:cNvSpPr/>
          <p:nvPr/>
        </p:nvSpPr>
        <p:spPr>
          <a:xfrm>
            <a:off x="1143000" y="2971800"/>
            <a:ext cx="1798259" cy="43891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417524-1AB4-FFC4-5612-491C0AF1EC4E}"/>
              </a:ext>
            </a:extLst>
          </p:cNvPr>
          <p:cNvSpPr/>
          <p:nvPr/>
        </p:nvSpPr>
        <p:spPr>
          <a:xfrm>
            <a:off x="1307592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45A1CF-153E-24E4-128B-D66180AFF8E0}"/>
              </a:ext>
            </a:extLst>
          </p:cNvPr>
          <p:cNvSpPr/>
          <p:nvPr/>
        </p:nvSpPr>
        <p:spPr>
          <a:xfrm>
            <a:off x="1307592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sessions &amp; metadata</a:t>
            </a: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Cyclops =&gt; Quasar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(Drive K:) )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9CCC61-83F1-F4B6-E84F-28EADE0D1532}"/>
              </a:ext>
            </a:extLst>
          </p:cNvPr>
          <p:cNvSpPr/>
          <p:nvPr/>
        </p:nvSpPr>
        <p:spPr>
          <a:xfrm>
            <a:off x="2959547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5D0DF1-1D11-F996-476C-2C8E9DE857A6}"/>
              </a:ext>
            </a:extLst>
          </p:cNvPr>
          <p:cNvSpPr/>
          <p:nvPr/>
        </p:nvSpPr>
        <p:spPr>
          <a:xfrm>
            <a:off x="3169859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B3ABF6E-45C1-3476-DCF8-115F4927D1C9}"/>
              </a:ext>
            </a:extLst>
          </p:cNvPr>
          <p:cNvSpPr/>
          <p:nvPr/>
        </p:nvSpPr>
        <p:spPr>
          <a:xfrm>
            <a:off x="3169859" y="2971800"/>
            <a:ext cx="1798259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2CBAAD9-E300-78BE-C2EE-5D77ABF473D7}"/>
              </a:ext>
            </a:extLst>
          </p:cNvPr>
          <p:cNvSpPr/>
          <p:nvPr/>
        </p:nvSpPr>
        <p:spPr>
          <a:xfrm>
            <a:off x="3334451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66912D-6327-F442-5827-E4F4859CEF34}"/>
              </a:ext>
            </a:extLst>
          </p:cNvPr>
          <p:cNvSpPr/>
          <p:nvPr/>
        </p:nvSpPr>
        <p:spPr>
          <a:xfrm>
            <a:off x="3334451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EDF(+)</a:t>
            </a: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EDFExport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on Cyclops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 (Quasar) =&gt;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(Quasar)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C92DD71-CA1D-6C9F-2D7E-992A52F2E511}"/>
              </a:ext>
            </a:extLst>
          </p:cNvPr>
          <p:cNvSpPr/>
          <p:nvPr/>
        </p:nvSpPr>
        <p:spPr>
          <a:xfrm>
            <a:off x="4986406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C21899C-2A57-5D5C-5152-98072983E6BF}"/>
              </a:ext>
            </a:extLst>
          </p:cNvPr>
          <p:cNvSpPr/>
          <p:nvPr/>
        </p:nvSpPr>
        <p:spPr>
          <a:xfrm>
            <a:off x="5196718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27A72B4-E211-5E60-47B1-1E29DD8DFED8}"/>
              </a:ext>
            </a:extLst>
          </p:cNvPr>
          <p:cNvSpPr/>
          <p:nvPr/>
        </p:nvSpPr>
        <p:spPr>
          <a:xfrm>
            <a:off x="5196718" y="2971800"/>
            <a:ext cx="1798259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AD6061-B7C8-0A86-FD75-A25084B04464}"/>
              </a:ext>
            </a:extLst>
          </p:cNvPr>
          <p:cNvSpPr/>
          <p:nvPr/>
        </p:nvSpPr>
        <p:spPr>
          <a:xfrm>
            <a:off x="5361310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Verify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09E5C36-52A3-F146-F94E-9A1C55DB8DF8}"/>
              </a:ext>
            </a:extLst>
          </p:cNvPr>
          <p:cNvSpPr/>
          <p:nvPr/>
        </p:nvSpPr>
        <p:spPr>
          <a:xfrm>
            <a:off x="5361310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+ checks</a:t>
            </a: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 Quasar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A59444A-4C3C-EB98-CFD4-D8290C654C91}"/>
              </a:ext>
            </a:extLst>
          </p:cNvPr>
          <p:cNvSpPr/>
          <p:nvPr/>
        </p:nvSpPr>
        <p:spPr>
          <a:xfrm>
            <a:off x="7013265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8C3A229-1AA6-B35F-591D-541F432CD42D}"/>
              </a:ext>
            </a:extLst>
          </p:cNvPr>
          <p:cNvSpPr/>
          <p:nvPr/>
        </p:nvSpPr>
        <p:spPr>
          <a:xfrm>
            <a:off x="7223577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E14C67C-FFC7-1C9F-F147-F2B339CB67D7}"/>
              </a:ext>
            </a:extLst>
          </p:cNvPr>
          <p:cNvSpPr/>
          <p:nvPr/>
        </p:nvSpPr>
        <p:spPr>
          <a:xfrm>
            <a:off x="7223577" y="2971800"/>
            <a:ext cx="1798259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E3C90F2-FA35-0C3C-83A8-1B4EA116665A}"/>
              </a:ext>
            </a:extLst>
          </p:cNvPr>
          <p:cNvSpPr/>
          <p:nvPr/>
        </p:nvSpPr>
        <p:spPr>
          <a:xfrm>
            <a:off x="7388169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E76E5C2-D866-E68D-D5D3-0B941197AEAE}"/>
              </a:ext>
            </a:extLst>
          </p:cNvPr>
          <p:cNvSpPr/>
          <p:nvPr/>
        </p:nvSpPr>
        <p:spPr>
          <a:xfrm>
            <a:off x="7388169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removal</a:t>
            </a: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 Quasar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100715F-27A2-0DAC-E2C3-020309D4D565}"/>
              </a:ext>
            </a:extLst>
          </p:cNvPr>
          <p:cNvSpPr/>
          <p:nvPr/>
        </p:nvSpPr>
        <p:spPr>
          <a:xfrm>
            <a:off x="9040124" y="376732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8F2BE3-C12E-951F-36F8-95C487B70B8E}"/>
              </a:ext>
            </a:extLst>
          </p:cNvPr>
          <p:cNvSpPr/>
          <p:nvPr/>
        </p:nvSpPr>
        <p:spPr>
          <a:xfrm>
            <a:off x="9250436" y="2971800"/>
            <a:ext cx="179825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37B0846-4E9B-069F-C212-348EEFEE9E00}"/>
              </a:ext>
            </a:extLst>
          </p:cNvPr>
          <p:cNvSpPr/>
          <p:nvPr/>
        </p:nvSpPr>
        <p:spPr>
          <a:xfrm>
            <a:off x="9250436" y="2971800"/>
            <a:ext cx="1798259" cy="43891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F68B2FA-FFF4-E4AD-3AF8-7DA65357867D}"/>
              </a:ext>
            </a:extLst>
          </p:cNvPr>
          <p:cNvSpPr/>
          <p:nvPr/>
        </p:nvSpPr>
        <p:spPr>
          <a:xfrm>
            <a:off x="9415028" y="3081528"/>
            <a:ext cx="14690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BF62687-A128-A2C1-6DE9-4658BD5AAD5E}"/>
              </a:ext>
            </a:extLst>
          </p:cNvPr>
          <p:cNvSpPr/>
          <p:nvPr/>
        </p:nvSpPr>
        <p:spPr>
          <a:xfrm>
            <a:off x="9415028" y="3538728"/>
            <a:ext cx="1469075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dataset</a:t>
            </a: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 Quasar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Nebula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CB9B87D-1BA1-D6C7-48C3-9076EAE6B124}"/>
              </a:ext>
            </a:extLst>
          </p:cNvPr>
          <p:cNvSpPr/>
          <p:nvPr/>
        </p:nvSpPr>
        <p:spPr>
          <a:xfrm>
            <a:off x="1142999" y="592074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Feb 10, 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019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6FCA7-C0CE-752E-D52E-BD4A63B8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43EA49-3FC9-3688-62A8-52241A522865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1B4F0E-9730-A1D4-A1BE-0DCAC00D2881}"/>
              </a:ext>
            </a:extLst>
          </p:cNvPr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overview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9F6963-7AC3-D314-7D62-2CE59D5214B5}"/>
              </a:ext>
            </a:extLst>
          </p:cNvPr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Natus sessions to a shareable BIDS dataset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BA622A4-DEBE-436E-B7C3-ACB47060E4B8}"/>
              </a:ext>
            </a:extLst>
          </p:cNvPr>
          <p:cNvSpPr/>
          <p:nvPr/>
        </p:nvSpPr>
        <p:spPr>
          <a:xfrm>
            <a:off x="548640" y="1051560"/>
            <a:ext cx="1109441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0BAA1C-B411-E881-473C-C514110A691D}"/>
              </a:ext>
            </a:extLst>
          </p:cNvPr>
          <p:cNvSpPr/>
          <p:nvPr/>
        </p:nvSpPr>
        <p:spPr>
          <a:xfrm>
            <a:off x="777240" y="1234440"/>
            <a:ext cx="194456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5F120D0-56BE-D487-BA35-B470285A2B54}"/>
              </a:ext>
            </a:extLst>
          </p:cNvPr>
          <p:cNvSpPr/>
          <p:nvPr/>
        </p:nvSpPr>
        <p:spPr>
          <a:xfrm>
            <a:off x="777240" y="1234440"/>
            <a:ext cx="1944563" cy="43891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F4137E-3BBA-1562-468F-ED6D3BBBB2AC}"/>
              </a:ext>
            </a:extLst>
          </p:cNvPr>
          <p:cNvSpPr/>
          <p:nvPr/>
        </p:nvSpPr>
        <p:spPr>
          <a:xfrm>
            <a:off x="941832" y="1344168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3E4320-361C-FE02-C783-19ACB486B36B}"/>
              </a:ext>
            </a:extLst>
          </p:cNvPr>
          <p:cNvSpPr/>
          <p:nvPr/>
        </p:nvSpPr>
        <p:spPr>
          <a:xfrm>
            <a:off x="941832" y="1801368"/>
            <a:ext cx="1615379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sessions &amp; metadata &amp; </a:t>
            </a:r>
          </a:p>
          <a:p>
            <a:pPr marL="0" indent="0" algn="ctr">
              <a:buNone/>
            </a:pPr>
            <a:endParaRPr lang="en-US" sz="1100" dirty="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recordings (clinical)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9A5D6B-8559-2741-0F55-46818CB0648C}"/>
              </a:ext>
            </a:extLst>
          </p:cNvPr>
          <p:cNvSpPr/>
          <p:nvPr/>
        </p:nvSpPr>
        <p:spPr>
          <a:xfrm>
            <a:off x="2740091" y="209854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0629F8-C96B-5570-1E35-6C7E48ECEA70}"/>
              </a:ext>
            </a:extLst>
          </p:cNvPr>
          <p:cNvSpPr/>
          <p:nvPr/>
        </p:nvSpPr>
        <p:spPr>
          <a:xfrm>
            <a:off x="2950403" y="1234440"/>
            <a:ext cx="194456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2CF641-CFC0-528C-15B4-9EF81CC20EEF}"/>
              </a:ext>
            </a:extLst>
          </p:cNvPr>
          <p:cNvSpPr/>
          <p:nvPr/>
        </p:nvSpPr>
        <p:spPr>
          <a:xfrm>
            <a:off x="2950403" y="1234440"/>
            <a:ext cx="1944563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F477ED-4EFB-46EE-29FA-03B0A71101BF}"/>
              </a:ext>
            </a:extLst>
          </p:cNvPr>
          <p:cNvSpPr/>
          <p:nvPr/>
        </p:nvSpPr>
        <p:spPr>
          <a:xfrm>
            <a:off x="3114995" y="1344168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B287CF-44C1-BD43-A75F-2D9F653AED73}"/>
              </a:ext>
            </a:extLst>
          </p:cNvPr>
          <p:cNvSpPr/>
          <p:nvPr/>
        </p:nvSpPr>
        <p:spPr>
          <a:xfrm>
            <a:off x="3114995" y="1801368"/>
            <a:ext cx="1615379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EDF(+)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per session (.EDF)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E114FE1-8258-A859-1529-99B15EE3426E}"/>
              </a:ext>
            </a:extLst>
          </p:cNvPr>
          <p:cNvSpPr/>
          <p:nvPr/>
        </p:nvSpPr>
        <p:spPr>
          <a:xfrm>
            <a:off x="4913254" y="209854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6FF12D-C066-C2F7-CDD5-0742D515C6D1}"/>
              </a:ext>
            </a:extLst>
          </p:cNvPr>
          <p:cNvSpPr/>
          <p:nvPr/>
        </p:nvSpPr>
        <p:spPr>
          <a:xfrm>
            <a:off x="5123566" y="1234440"/>
            <a:ext cx="194456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2B312ED-5277-1F02-B264-2709584F0F56}"/>
              </a:ext>
            </a:extLst>
          </p:cNvPr>
          <p:cNvSpPr/>
          <p:nvPr/>
        </p:nvSpPr>
        <p:spPr>
          <a:xfrm>
            <a:off x="5123566" y="1234440"/>
            <a:ext cx="1944563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6E1A235-EEC3-CDDD-AA8C-A1DB0FF6F0C5}"/>
              </a:ext>
            </a:extLst>
          </p:cNvPr>
          <p:cNvSpPr/>
          <p:nvPr/>
        </p:nvSpPr>
        <p:spPr>
          <a:xfrm>
            <a:off x="5288158" y="1344168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Verify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94551D6-EABB-88A7-25FC-2DD7EDA101A3}"/>
              </a:ext>
            </a:extLst>
          </p:cNvPr>
          <p:cNvSpPr/>
          <p:nvPr/>
        </p:nvSpPr>
        <p:spPr>
          <a:xfrm>
            <a:off x="5288158" y="1801368"/>
            <a:ext cx="1615379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+ checks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7657E91-D62C-F3D5-790A-40E26D205906}"/>
              </a:ext>
            </a:extLst>
          </p:cNvPr>
          <p:cNvSpPr/>
          <p:nvPr/>
        </p:nvSpPr>
        <p:spPr>
          <a:xfrm>
            <a:off x="7086417" y="209854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56F0DA8-0B56-8737-57ED-954D7032DA97}"/>
              </a:ext>
            </a:extLst>
          </p:cNvPr>
          <p:cNvSpPr/>
          <p:nvPr/>
        </p:nvSpPr>
        <p:spPr>
          <a:xfrm>
            <a:off x="7296729" y="1234440"/>
            <a:ext cx="194456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B2AA140-4E0F-A9B5-B035-CA05D41F69FD}"/>
              </a:ext>
            </a:extLst>
          </p:cNvPr>
          <p:cNvSpPr/>
          <p:nvPr/>
        </p:nvSpPr>
        <p:spPr>
          <a:xfrm>
            <a:off x="7296729" y="1234440"/>
            <a:ext cx="1944563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FF055C7-820C-5FC6-3261-0A7BD6E6F407}"/>
              </a:ext>
            </a:extLst>
          </p:cNvPr>
          <p:cNvSpPr/>
          <p:nvPr/>
        </p:nvSpPr>
        <p:spPr>
          <a:xfrm>
            <a:off x="7461321" y="1344168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45539DC-C9B1-6DBE-2541-D0399C66DFEA}"/>
              </a:ext>
            </a:extLst>
          </p:cNvPr>
          <p:cNvSpPr/>
          <p:nvPr/>
        </p:nvSpPr>
        <p:spPr>
          <a:xfrm>
            <a:off x="7461321" y="1801368"/>
            <a:ext cx="1615379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removal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043DA84-72C6-59E9-286B-CD4F62B027BC}"/>
              </a:ext>
            </a:extLst>
          </p:cNvPr>
          <p:cNvSpPr/>
          <p:nvPr/>
        </p:nvSpPr>
        <p:spPr>
          <a:xfrm>
            <a:off x="9259580" y="2098548"/>
            <a:ext cx="192024" cy="329184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BD3BC38-C002-42CF-E870-96CD9D2E3793}"/>
              </a:ext>
            </a:extLst>
          </p:cNvPr>
          <p:cNvSpPr/>
          <p:nvPr/>
        </p:nvSpPr>
        <p:spPr>
          <a:xfrm>
            <a:off x="9469892" y="1234440"/>
            <a:ext cx="1944563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DE723E6-62B5-E89C-CBC5-9B530AEED38A}"/>
              </a:ext>
            </a:extLst>
          </p:cNvPr>
          <p:cNvSpPr/>
          <p:nvPr/>
        </p:nvSpPr>
        <p:spPr>
          <a:xfrm>
            <a:off x="9469892" y="1234440"/>
            <a:ext cx="1944563" cy="43891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7793D10-01FE-AE02-62EF-8ABC9A22811E}"/>
              </a:ext>
            </a:extLst>
          </p:cNvPr>
          <p:cNvSpPr/>
          <p:nvPr/>
        </p:nvSpPr>
        <p:spPr>
          <a:xfrm>
            <a:off x="9634484" y="1344168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D4B08D0-EAE3-E1EF-C7D8-DC9B49C195EC}"/>
              </a:ext>
            </a:extLst>
          </p:cNvPr>
          <p:cNvSpPr/>
          <p:nvPr/>
        </p:nvSpPr>
        <p:spPr>
          <a:xfrm>
            <a:off x="9634484" y="1801368"/>
            <a:ext cx="1615379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dataset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2FC1F42-1F3A-FD6E-FD4F-F93C3FF48D7B}"/>
              </a:ext>
            </a:extLst>
          </p:cNvPr>
          <p:cNvSpPr/>
          <p:nvPr/>
        </p:nvSpPr>
        <p:spPr>
          <a:xfrm>
            <a:off x="548640" y="3703320"/>
            <a:ext cx="11094415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F0FCC8F-DE7A-C021-7FF3-9D871BB7ADC6}"/>
              </a:ext>
            </a:extLst>
          </p:cNvPr>
          <p:cNvSpPr/>
          <p:nvPr/>
        </p:nvSpPr>
        <p:spPr>
          <a:xfrm>
            <a:off x="868680" y="393192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at each stage (inputs → outputs)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56C0F6C-06E3-377B-79D0-F1BA3F704885}"/>
              </a:ext>
            </a:extLst>
          </p:cNvPr>
          <p:cNvSpPr/>
          <p:nvPr/>
        </p:nvSpPr>
        <p:spPr>
          <a:xfrm>
            <a:off x="960120" y="4343400"/>
            <a:ext cx="10271455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Natus: discover sessions, confirm coverage, and prepare batch exports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EDF: create a portable time-series file per recording (often EDF+)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Verify: ensure EDF compatibility and that export is complete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Redaction: remove PHI in headers/annotations and in metadata sidecars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BIDS: standard folder + metadata files so tools can ingest consistently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A86A598-696B-A8F5-182E-CC03A28F3A6A}"/>
              </a:ext>
            </a:extLst>
          </p:cNvPr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FC7591E-EED4-7344-9077-95C9E8BEE9F9}"/>
              </a:ext>
            </a:extLst>
          </p:cNvPr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steps: StepA (landing/verify) → StepB (transform/redact/BIDS)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1065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Natus session scouting &amp;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StepA1: Natus_Session_Finder_GUI (v3) – </a:t>
            </a: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 SCOUT</a:t>
            </a:r>
            <a:endParaRPr lang="en-US" sz="13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(tools)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Natus landing/server folder for candidate session folders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extract: StudyName, RecStart/RecEnd, EegNo, Machine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checker: find missing days, overlaps, &lt;23h days, multi-sessions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Gantt-style visualization of selected sessions (export PNG + TSV)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copy/move scripts and CSV item lists for controlled transfer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“garbage in”: you export only the sessions you intend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gaps/overlaps early (before conversion and redaction)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auditable selection artifact (CSV/TSV + logs)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batch operations without manual folder-by-folder 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LHSC/UWO • Natus→EDF→Redaction→BIDS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9456"/>
            <a:ext cx="128016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71455" y="246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Batch export from Natus to EDF(+)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StepA0: NatusExportList_Generator + </a:t>
            </a:r>
            <a:r>
              <a:rPr lang="en-US" sz="13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NeuroWorks</a:t>
            </a: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export  + </a:t>
            </a:r>
            <a:r>
              <a:rPr lang="en-US" sz="13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automator</a:t>
            </a: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 Natus Machine)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(tools + external step)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structured export list (session folder + constant config path)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export in Natus NeuroWorks (outside this toolbox) to produce *.edf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export settings consistent across large cohorts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EDF/EDF+ is widely supported for EEG/iEEG time-series storage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exports reduce downstream surprises (channels, scaling, timing)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automation: every later step can run “per EDF file”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LHSC/UWO • Natus→EDF→Redaction→BIDS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9456"/>
            <a:ext cx="128016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71455" y="246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EDF compatibility &amp; conversion sanity checks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StepA2: EDF_Compatibility_Check_tool + GUI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(tools)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EDFbrowser in “--check-compatibility” mode on each EDF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sidecars: *.edf_pass or *.edf_fail (skip if already processed)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folder recursion for large exports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malformed headers before you build BIDS around bad files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simple gate (“pass” files flow forward)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later automation idempotent (re-runs skip processed EDFs)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LHSC/UWO • Natus→EDF→Redaction→BIDS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9456"/>
            <a:ext cx="1280160" cy="29260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71455" y="246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Post-export cleanup, archiving &amp; verification marks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StepA3: Unified EDF Post-Conversion Cleanup (GUI)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(tools)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candidates where: EDF exists, PASS exists, matching Natus folder exists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gate: size(EDF) ≥ size(source folder) to detect incomplete exports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non-provenance media (e.g., *.avi, *.erd) to a “Deletable” area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source folder to subject.rar (WinRAR) and test the archive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EDF + PASS to include a verified suffix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provenance while reducing storage footprint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strong “export complete” signal (size gate + PASS + rename)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hard-deletes: everything is moved so it’s reversible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logs for audit trails and troubleshooting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LHSC/UWO • Natus→EDF→Redaction→BIDS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9456"/>
            <a:ext cx="1280160" cy="29260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71455" y="246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StepA3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Redaction (remove PHI before sharing)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StepB3: EDF + TSV/JSON redaction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(tools)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EDF-level: blank embedded annotation text channels (EDF/BDF Annotations)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EDF-level: overwrite patient/recording header fields (de-identify)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Metadata-level: redact names in TSV/JSON using a name list (pattern + variants)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PHI redaction model to auto-redact TSVs (backup originals to PHI folder)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detailed logs + redaction maps for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 when transferring data outside the clinical environment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“analysis-ready” from “contains PHI” via clear foldering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reversible record (original backups + logs)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manual review workflows and scalable batch redaction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LHSC/UWO • Natus→EDF→Redaction→BIDS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9456"/>
            <a:ext cx="1280160" cy="292608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71455" y="246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StepB3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EDF → BIDS conversion (standardize for analysis)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StepB2: StepB_edf2bids.py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(tools)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BIDS folders: sub-*/ses-*/eeg or iEEG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EDF into BIDS naming convention and (optionally) de-identify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core sidecars: dataset_description.json, participants.tsv, scans.tsv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modality files: channels.tsv, electrodes.tsv, events.tsv, recording JSON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“resident mode”: watch a folder and auto-convert new EDFs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960120"/>
            <a:ext cx="538718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16128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527048"/>
            <a:ext cx="4747108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consistent ingestion by BIDS-aware tooling and pipelines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datasets easier to share, validate, and reproduce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Sidecars store essential acquisition metadata next to the recording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subject/session/run simplifies downstream QC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LHSC/UWO • Natus→EDF→Redaction→BIDS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71455" y="219456"/>
            <a:ext cx="128016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71455" y="246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StepB2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audit checkpoints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pipeline adds guardrails (and what to review)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513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513572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 selection: coverage report + gantt for chosen sessions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consistent NeuroWorks settings across batches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gate: only *.edf_pass moves forward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 archive test passes; EDF renamed “verified”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Redaction: review logs/redaction maps for edge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15888" y="1371600"/>
            <a:ext cx="513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final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15888" y="1737360"/>
            <a:ext cx="513572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BIDS validator on the output dataset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Spot-check: channels.tsv, electrodes.tsv, events.tsv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acquisition timestamps in scans.tsv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PHI backups are segregated (sub-*_PHI)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configuration used (edf2bids_config.json)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5440680"/>
            <a:ext cx="10271455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555040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logs with the dataset (or alongside it) to make your pipeline auditable end-to-end.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slide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runbook (one cohort)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repeatable order of operations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5361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1600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958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sessions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755648"/>
            <a:ext cx="9585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StepA1 GUI → export selection CSV + gantt PNG/TSV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249424"/>
            <a:ext cx="100885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232257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2386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249424"/>
            <a:ext cx="958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EDF(+)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542032"/>
            <a:ext cx="9585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export list → run NeuroWorks export → EDF files land in Folder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035808"/>
            <a:ext cx="100885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" y="310896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3172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035808"/>
            <a:ext cx="958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gate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328416"/>
            <a:ext cx="9585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StepA2 → keep only *.edf_pass for the next steps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3822192"/>
            <a:ext cx="100885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389534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5568" y="3959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822192"/>
            <a:ext cx="958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mark verified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114800"/>
            <a:ext cx="9585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StepA3 cleanup → archive source → rename EDF as verified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1560" y="4608576"/>
            <a:ext cx="100885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51560" y="468172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15568" y="4745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608576"/>
            <a:ext cx="958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PHI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54480" y="4901184"/>
            <a:ext cx="9585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StepB3 → blank embedded annotations + redact TSV/JSON + keep backups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1560" y="5394960"/>
            <a:ext cx="100885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1560" y="54681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15568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5394960"/>
            <a:ext cx="958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BIDS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554480" y="5687568"/>
            <a:ext cx="9585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StepB2 edf2bids → produce BIDS dataset + sidecars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you should expect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artifacts produced by each stage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387188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5272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18488"/>
            <a:ext cx="4747108" cy="4507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Natus session folders (source of truth)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EDF(+): *.edf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EDF marker files: *.edf_pass/*.edf_fail + renamed “verified” EDF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backups (segregated): sub-*_PHI/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BIDS dataset: sub-*/ses-*/(eeg|ieeg)/ + JSON/TSV sidecars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1051560"/>
            <a:ext cx="5387188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5908" y="1252728"/>
            <a:ext cx="4747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metadata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1618488"/>
            <a:ext cx="4747108" cy="4507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selection CSV/TSV + optional gantt chart exports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check logs + PASS/FAIL stamps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Cleanup/archiving logs (including archive test results)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logs + redaction maps (what changed where)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snapshot: edf2bids_config.json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this pipeline to your environment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74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inputs that change the exact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054577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finalize a “house” version of this runbook, I need: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9722815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Natus flavor and folder conventions are you using (session naming patterns)?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recordings EEG, iEEG, or mixed (channel thresholds / electrode metadata differ)?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 must be removed: header fields only, embedded annotations, sidecar metadata, or all?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manual redaction review (prompted) or fully automated model-based redaction?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define a “session”: per day, per stay, per clip, or per recording type?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archives/logs live relative to the BIDS dataset for your audits?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5623560"/>
            <a:ext cx="990569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5880" y="5733288"/>
            <a:ext cx="95399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bullets — I can regenerate this deck with your exact folder paths, naming rules, and governance language.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2851</TotalTime>
  <Words>2821</Words>
  <Application>Microsoft Office PowerPoint</Application>
  <PresentationFormat>Widescreen</PresentationFormat>
  <Paragraphs>296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LHSC/UWO BIDS Toolbox</dc:creator>
  <cp:lastModifiedBy>Milad Khaki</cp:lastModifiedBy>
  <cp:revision>21</cp:revision>
  <dcterms:created xsi:type="dcterms:W3CDTF">2026-02-10T17:47:29Z</dcterms:created>
  <dcterms:modified xsi:type="dcterms:W3CDTF">2026-02-12T17:23:32Z</dcterms:modified>
</cp:coreProperties>
</file>